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6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979D86-B5D5-4B1B-89B8-DE4056FE02B3}" type="datetimeFigureOut">
              <a:rPr lang="fr-BE" smtClean="0"/>
              <a:t>05-12-25</a:t>
            </a:fld>
            <a:endParaRPr lang="fr-BE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 dirty="0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141FA1-1BB6-42B9-ADDA-1738FC4B415E}" type="slidenum">
              <a:rPr lang="fr-BE" smtClean="0"/>
              <a:t>‹N°›</a:t>
            </a:fld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489592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141FA1-1BB6-42B9-ADDA-1738FC4B415E}" type="slidenum">
              <a:rPr lang="fr-BE" smtClean="0"/>
              <a:t>1</a:t>
            </a:fld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5330990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7F1A9-D517-3E8A-A042-F3AFC6D3F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3CBD1B3-0BB3-D800-F4E6-636D92859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64EC4AB-FD03-C3B3-F186-CCA10CDD8B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A6F995D-480F-2022-0858-15CD225490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141FA1-1BB6-42B9-ADDA-1738FC4B415E}" type="slidenum">
              <a:rPr lang="fr-BE" smtClean="0"/>
              <a:t>2</a:t>
            </a:fld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40904663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03C731-C532-72BE-ACA0-A4F91C66A1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26A1050-CB37-ACEF-AEDB-3D4FFE92C0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2144ACF-0883-EF19-E9AC-A2B971E6B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CA716-68D2-4052-AE15-D9A5053B90EC}" type="datetimeFigureOut">
              <a:rPr lang="fr-BE" smtClean="0"/>
              <a:t>05-12-25</a:t>
            </a:fld>
            <a:endParaRPr lang="fr-BE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EDF14DF-1465-2FB6-BBD5-DFA4A311E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8C93082-15CF-3C1F-A25C-B3027A3F1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E08EB-F659-4748-A445-DF2E697CBFD6}" type="slidenum">
              <a:rPr lang="fr-BE" smtClean="0"/>
              <a:t>‹N°›</a:t>
            </a:fld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367069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E86F9D2-D20C-EFEF-EAEA-06B5BA7D4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A403DE9-B499-4339-2107-7CADC96B2C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67F78EC-4ECD-553A-E0C6-E7ABC8ADC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CA716-68D2-4052-AE15-D9A5053B90EC}" type="datetimeFigureOut">
              <a:rPr lang="fr-BE" smtClean="0"/>
              <a:t>05-12-25</a:t>
            </a:fld>
            <a:endParaRPr lang="fr-BE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6E8774E-FB32-2D12-E852-FE315DDFD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B9AC74E-33C2-8FBF-F707-6F7DDC1B4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E08EB-F659-4748-A445-DF2E697CBFD6}" type="slidenum">
              <a:rPr lang="fr-BE" smtClean="0"/>
              <a:t>‹N°›</a:t>
            </a:fld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228105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9E180F-A5B5-EB74-D467-0F59E2620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815254B-C88C-E205-0922-969487C7D5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95ABB4-1EC9-601A-42F8-F07C9CF5B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CA716-68D2-4052-AE15-D9A5053B90EC}" type="datetimeFigureOut">
              <a:rPr lang="fr-BE" smtClean="0"/>
              <a:t>05-12-25</a:t>
            </a:fld>
            <a:endParaRPr lang="fr-BE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327695F-13BE-28B7-40B4-67B441D74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A71D48E-0CB1-DAD8-1ADC-7F480D5D3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E08EB-F659-4748-A445-DF2E697CBFD6}" type="slidenum">
              <a:rPr lang="fr-BE" smtClean="0"/>
              <a:t>‹N°›</a:t>
            </a:fld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517759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EE9205-B6B3-5310-E357-54DDA3172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30EC56C-1E3C-D363-D21C-2D7F410A9C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B7282F5-75AF-4450-AFC9-D993F07244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F688C8B-B5AB-278F-CE33-F17157223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CA716-68D2-4052-AE15-D9A5053B90EC}" type="datetimeFigureOut">
              <a:rPr lang="fr-BE" smtClean="0"/>
              <a:t>05-12-25</a:t>
            </a:fld>
            <a:endParaRPr lang="fr-BE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B70784B-8166-56F3-D10C-630E00A7C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1BE28D3-43B5-D102-C337-A85A2BBB2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E08EB-F659-4748-A445-DF2E697CBFD6}" type="slidenum">
              <a:rPr lang="fr-BE" smtClean="0"/>
              <a:t>‹N°›</a:t>
            </a:fld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4124028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2B712D-D06D-52AB-BED1-A393D0F11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1D308D3-3787-5C7C-2252-D882EC4A2E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921982F-3C5B-A960-B782-993543FA0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8E17524-EEE8-9587-936E-396606526B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A9AC8EB-CC2F-8F2C-B04D-19211B30AA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3BC06EA-0402-4E2B-9FEA-715B92CAD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CA716-68D2-4052-AE15-D9A5053B90EC}" type="datetimeFigureOut">
              <a:rPr lang="fr-BE" smtClean="0"/>
              <a:t>05-12-25</a:t>
            </a:fld>
            <a:endParaRPr lang="fr-BE" dirty="0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A1EB4D0-297C-66CE-BA16-6C08D4305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262EA22-C12E-730C-55F1-D0C5A59C3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E08EB-F659-4748-A445-DF2E697CBFD6}" type="slidenum">
              <a:rPr lang="fr-BE" smtClean="0"/>
              <a:t>‹N°›</a:t>
            </a:fld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5042902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E813F8-8AB4-BF5C-8BF7-2BD241BBC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1645665-28D5-1C05-8BED-3917971959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CA716-68D2-4052-AE15-D9A5053B90EC}" type="datetimeFigureOut">
              <a:rPr lang="fr-BE" smtClean="0"/>
              <a:t>05-12-25</a:t>
            </a:fld>
            <a:endParaRPr lang="fr-BE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836B22A-7A3B-28AD-7689-39AECE35E5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F19A2E3-D809-A6E8-92EC-F286C3D18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E08EB-F659-4748-A445-DF2E697CBFD6}" type="slidenum">
              <a:rPr lang="fr-BE" smtClean="0"/>
              <a:t>‹N°›</a:t>
            </a:fld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790862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FED8BAF-2A19-D7C4-71AE-DA937B640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CA716-68D2-4052-AE15-D9A5053B90EC}" type="datetimeFigureOut">
              <a:rPr lang="fr-BE" smtClean="0"/>
              <a:t>05-12-25</a:t>
            </a:fld>
            <a:endParaRPr lang="fr-BE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57C5978-D051-8C1F-21E0-0C9094AFF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C6B499A-E9F4-D6E0-78A9-12BF094DE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E08EB-F659-4748-A445-DF2E697CBFD6}" type="slidenum">
              <a:rPr lang="fr-BE" smtClean="0"/>
              <a:t>‹N°›</a:t>
            </a:fld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664471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D1A9AB-1685-432B-5BD1-49F998B82E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3FF5B9D-4178-20F4-D847-E2C2161F6E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6978A28-4004-024F-7DBA-349DE7C4EC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EDD5479-6DA3-CD29-856E-81A8D5467E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CA716-68D2-4052-AE15-D9A5053B90EC}" type="datetimeFigureOut">
              <a:rPr lang="fr-BE" smtClean="0"/>
              <a:t>05-12-25</a:t>
            </a:fld>
            <a:endParaRPr lang="fr-BE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337D496-A7D8-D9C1-38A0-35D81DCB8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7B3644A-36BE-035E-F771-696310A98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E08EB-F659-4748-A445-DF2E697CBFD6}" type="slidenum">
              <a:rPr lang="fr-BE" smtClean="0"/>
              <a:t>‹N°›</a:t>
            </a:fld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0054210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99D3DA-700D-6D91-34A0-D83F054CA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F2A54CA-9352-67C3-CE7D-CFAAAF3491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53330A2-BA48-E9A5-1944-1DEA5A7349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EC87479-86C9-F1C2-1796-F600C8AFC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CA716-68D2-4052-AE15-D9A5053B90EC}" type="datetimeFigureOut">
              <a:rPr lang="fr-BE" smtClean="0"/>
              <a:t>05-12-25</a:t>
            </a:fld>
            <a:endParaRPr lang="fr-BE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493FDAE-3A6D-D9AA-CBEE-55B48C3EA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C9A86E2-C762-10E6-417D-5D4A55DCA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E08EB-F659-4748-A445-DF2E697CBFD6}" type="slidenum">
              <a:rPr lang="fr-BE" smtClean="0"/>
              <a:t>‹N°›</a:t>
            </a:fld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5235173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2E47B6-5727-D3A1-52FB-17515033D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E2E3CBB-B7DF-915B-FCBD-D308991AC0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1EE7E03-9DA9-C4C6-E488-6B5C40FEE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CA716-68D2-4052-AE15-D9A5053B90EC}" type="datetimeFigureOut">
              <a:rPr lang="fr-BE" smtClean="0"/>
              <a:t>05-12-25</a:t>
            </a:fld>
            <a:endParaRPr lang="fr-BE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686F4CC-E8A2-9E0D-830E-4D35D0446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842E989-69BA-F180-A182-39A3317B0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E08EB-F659-4748-A445-DF2E697CBFD6}" type="slidenum">
              <a:rPr lang="fr-BE" smtClean="0"/>
              <a:t>‹N°›</a:t>
            </a:fld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936351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F7712356-8C19-8DA3-33B7-E06E513200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D238272-382D-1AFD-40F1-5E314D7A44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843344-E9BB-FFB9-E53A-7F5E43CB8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CA716-68D2-4052-AE15-D9A5053B90EC}" type="datetimeFigureOut">
              <a:rPr lang="fr-BE" smtClean="0"/>
              <a:t>05-12-25</a:t>
            </a:fld>
            <a:endParaRPr lang="fr-BE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B0F417-DFBD-8554-5311-0A767FE3B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DFEC4BC-02E4-239B-9B64-FEE5F6887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E08EB-F659-4748-A445-DF2E697CBFD6}" type="slidenum">
              <a:rPr lang="fr-BE" smtClean="0"/>
              <a:t>‹N°›</a:t>
            </a:fld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935215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DF92EDCE-AF08-0875-9796-50934E964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53F489-B2CA-0474-14DE-78AB4D9760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E11AEF0-0217-2D37-3C41-DC643B8DE3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ACA716-68D2-4052-AE15-D9A5053B90EC}" type="datetimeFigureOut">
              <a:rPr lang="fr-BE" smtClean="0"/>
              <a:t>05-12-25</a:t>
            </a:fld>
            <a:endParaRPr lang="fr-BE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89C8D47-46A3-434A-B58C-7483697026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3655FA-697E-537D-77B3-4C8DE11F95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AE08EB-F659-4748-A445-DF2E697CBFD6}" type="slidenum">
              <a:rPr lang="fr-BE" smtClean="0"/>
              <a:t>‹N°›</a:t>
            </a:fld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936075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tangle 59">
            <a:extLst>
              <a:ext uri="{FF2B5EF4-FFF2-40B4-BE49-F238E27FC236}">
                <a16:creationId xmlns:a16="http://schemas.microsoft.com/office/drawing/2014/main" id="{6928C2C7-A4D6-3C99-94DD-7A367A13587D}"/>
              </a:ext>
            </a:extLst>
          </p:cNvPr>
          <p:cNvSpPr/>
          <p:nvPr/>
        </p:nvSpPr>
        <p:spPr>
          <a:xfrm>
            <a:off x="1633585" y="3726426"/>
            <a:ext cx="8013291" cy="1209368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>
                <a:solidFill>
                  <a:schemeClr val="dk1"/>
                </a:solidFill>
              </a:rPr>
              <a:t>Infrastructure</a:t>
            </a:r>
          </a:p>
          <a:p>
            <a:pPr algn="ctr"/>
            <a:endParaRPr lang="fr-BE" dirty="0"/>
          </a:p>
          <a:p>
            <a:pPr algn="ctr"/>
            <a:endParaRPr lang="fr-BE" dirty="0">
              <a:solidFill>
                <a:schemeClr val="dk1"/>
              </a:solidFill>
            </a:endParaRPr>
          </a:p>
          <a:p>
            <a:pPr algn="ctr"/>
            <a:endParaRPr lang="fr-BE" dirty="0">
              <a:solidFill>
                <a:schemeClr val="dk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23C28A-691F-940F-E8F4-8C1B00BC6923}"/>
              </a:ext>
            </a:extLst>
          </p:cNvPr>
          <p:cNvSpPr/>
          <p:nvPr/>
        </p:nvSpPr>
        <p:spPr>
          <a:xfrm>
            <a:off x="1710811" y="1694834"/>
            <a:ext cx="8013291" cy="766916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Application</a:t>
            </a:r>
          </a:p>
          <a:p>
            <a:pPr algn="ctr"/>
            <a:r>
              <a:rPr lang="fr-BE" dirty="0"/>
              <a:t>Mediatr , CQRS Pattern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5D52BB-16D7-27AD-7B7C-6D0170242290}"/>
              </a:ext>
            </a:extLst>
          </p:cNvPr>
          <p:cNvSpPr/>
          <p:nvPr/>
        </p:nvSpPr>
        <p:spPr>
          <a:xfrm>
            <a:off x="4498256" y="2867334"/>
            <a:ext cx="2438400" cy="64032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>
                <a:solidFill>
                  <a:schemeClr val="dk1"/>
                </a:solidFill>
              </a:rPr>
              <a:t>Domain</a:t>
            </a:r>
            <a:br>
              <a:rPr lang="fr-BE" dirty="0">
                <a:solidFill>
                  <a:schemeClr val="dk1"/>
                </a:solidFill>
              </a:rPr>
            </a:br>
            <a:r>
              <a:rPr lang="fr-BE" sz="1200" dirty="0">
                <a:solidFill>
                  <a:schemeClr val="dk1"/>
                </a:solidFill>
              </a:rPr>
              <a:t>Mediator Driven</a:t>
            </a:r>
            <a:endParaRPr lang="fr-BE" dirty="0">
              <a:solidFill>
                <a:schemeClr val="dk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56630C-D118-5A8B-DE64-96E524D4840B}"/>
              </a:ext>
            </a:extLst>
          </p:cNvPr>
          <p:cNvSpPr/>
          <p:nvPr/>
        </p:nvSpPr>
        <p:spPr>
          <a:xfrm>
            <a:off x="6882580" y="4027541"/>
            <a:ext cx="2104106" cy="737419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/>
              <a:t>External Interfaces</a:t>
            </a:r>
            <a:endParaRPr lang="fr-BE" dirty="0">
              <a:solidFill>
                <a:schemeClr val="dk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69A33C-22D5-5357-27A7-4CBA5B12135C}"/>
              </a:ext>
            </a:extLst>
          </p:cNvPr>
          <p:cNvSpPr/>
          <p:nvPr/>
        </p:nvSpPr>
        <p:spPr>
          <a:xfrm>
            <a:off x="1710812" y="648929"/>
            <a:ext cx="8013291" cy="766916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Presentation</a:t>
            </a:r>
          </a:p>
        </p:txBody>
      </p: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285E97FD-83FE-2EA4-D6F4-E54449773962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5717457" y="1415845"/>
            <a:ext cx="1" cy="2789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37FD5E7E-70C2-A4A6-F008-AD5918BCA25F}"/>
              </a:ext>
            </a:extLst>
          </p:cNvPr>
          <p:cNvCxnSpPr>
            <a:cxnSpLocks/>
          </p:cNvCxnSpPr>
          <p:nvPr/>
        </p:nvCxnSpPr>
        <p:spPr>
          <a:xfrm flipH="1">
            <a:off x="5717456" y="2472198"/>
            <a:ext cx="1" cy="3846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F24884E5-3BF8-EB5C-9077-FEC3C518F0B9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7934633" y="2477421"/>
            <a:ext cx="12287" cy="155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F9DACBF6-98FD-2C21-D2A9-924A5C5CD81B}"/>
              </a:ext>
            </a:extLst>
          </p:cNvPr>
          <p:cNvCxnSpPr/>
          <p:nvPr/>
        </p:nvCxnSpPr>
        <p:spPr>
          <a:xfrm flipV="1">
            <a:off x="4857135" y="3507658"/>
            <a:ext cx="0" cy="519883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sys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4B27AB83-E037-F41C-DF71-8EBC61C4C047}"/>
              </a:ext>
            </a:extLst>
          </p:cNvPr>
          <p:cNvSpPr/>
          <p:nvPr/>
        </p:nvSpPr>
        <p:spPr>
          <a:xfrm>
            <a:off x="2440854" y="5214173"/>
            <a:ext cx="2662087" cy="73741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>
                <a:solidFill>
                  <a:schemeClr val="dk1"/>
                </a:solidFill>
              </a:rPr>
              <a:t>Database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94F7BF3-5672-880C-375F-5AF0D83AE4FE}"/>
              </a:ext>
            </a:extLst>
          </p:cNvPr>
          <p:cNvSpPr/>
          <p:nvPr/>
        </p:nvSpPr>
        <p:spPr>
          <a:xfrm>
            <a:off x="6198212" y="5241216"/>
            <a:ext cx="3448665" cy="73741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>
                <a:solidFill>
                  <a:schemeClr val="dk1"/>
                </a:solidFill>
              </a:rPr>
              <a:t>SAP</a:t>
            </a:r>
          </a:p>
        </p:txBody>
      </p:sp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ABBF7384-C751-BD8B-B8E1-6516F28FBEA8}"/>
              </a:ext>
            </a:extLst>
          </p:cNvPr>
          <p:cNvCxnSpPr>
            <a:cxnSpLocks/>
            <a:stCxn id="6" idx="2"/>
            <a:endCxn id="34" idx="0"/>
          </p:cNvCxnSpPr>
          <p:nvPr/>
        </p:nvCxnSpPr>
        <p:spPr>
          <a:xfrm flipH="1">
            <a:off x="7922545" y="4764960"/>
            <a:ext cx="12088" cy="4762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73860E5E-6A12-B422-786C-02B6B57532F7}"/>
              </a:ext>
            </a:extLst>
          </p:cNvPr>
          <p:cNvSpPr/>
          <p:nvPr/>
        </p:nvSpPr>
        <p:spPr>
          <a:xfrm>
            <a:off x="1710811" y="4041062"/>
            <a:ext cx="3564193" cy="737419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/>
              <a:t>Persistence</a:t>
            </a:r>
            <a:endParaRPr lang="fr-BE" dirty="0">
              <a:solidFill>
                <a:schemeClr val="dk1"/>
              </a:solidFill>
            </a:endParaRPr>
          </a:p>
        </p:txBody>
      </p:sp>
      <p:cxnSp>
        <p:nvCxnSpPr>
          <p:cNvPr id="48" name="Connecteur droit avec flèche 47">
            <a:extLst>
              <a:ext uri="{FF2B5EF4-FFF2-40B4-BE49-F238E27FC236}">
                <a16:creationId xmlns:a16="http://schemas.microsoft.com/office/drawing/2014/main" id="{AE5C22F1-F5E2-B36A-EC1C-9F1ECC5C9618}"/>
              </a:ext>
            </a:extLst>
          </p:cNvPr>
          <p:cNvCxnSpPr>
            <a:cxnSpLocks/>
            <a:stCxn id="37" idx="2"/>
          </p:cNvCxnSpPr>
          <p:nvPr/>
        </p:nvCxnSpPr>
        <p:spPr>
          <a:xfrm flipH="1">
            <a:off x="3492907" y="4778481"/>
            <a:ext cx="1" cy="4627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897987AD-EC7F-DA9E-9D86-390052F2E888}"/>
              </a:ext>
            </a:extLst>
          </p:cNvPr>
          <p:cNvCxnSpPr>
            <a:cxnSpLocks/>
          </p:cNvCxnSpPr>
          <p:nvPr/>
        </p:nvCxnSpPr>
        <p:spPr>
          <a:xfrm flipV="1">
            <a:off x="2652246" y="2490942"/>
            <a:ext cx="0" cy="155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Blazor — Wikipédia">
            <a:extLst>
              <a:ext uri="{FF2B5EF4-FFF2-40B4-BE49-F238E27FC236}">
                <a16:creationId xmlns:a16="http://schemas.microsoft.com/office/drawing/2014/main" id="{187CB153-6258-FCED-5F85-1C5E18BC24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2371" y="696861"/>
            <a:ext cx="671051" cy="671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🚫 Pourquoi l'imbrication de MediatR dans les gestionnaires MediatR n'est  peut-être pas la">
            <a:extLst>
              <a:ext uri="{FF2B5EF4-FFF2-40B4-BE49-F238E27FC236}">
                <a16:creationId xmlns:a16="http://schemas.microsoft.com/office/drawing/2014/main" id="{F19DFD34-C49C-9BC8-4450-DE49878B0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077" y="1656119"/>
            <a:ext cx="844345" cy="844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CQRS &amp; Events Sourcing avec GCP (1/3) : Introduction | by Renaud Chardin |  CodeShake | Medium">
            <a:extLst>
              <a:ext uri="{FF2B5EF4-FFF2-40B4-BE49-F238E27FC236}">
                <a16:creationId xmlns:a16="http://schemas.microsoft.com/office/drawing/2014/main" id="{5A58CCE3-3581-BBEC-8769-307897411C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1688" y="1785302"/>
            <a:ext cx="887361" cy="596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HubSpot MS SQL Server Integration | Datawarehouse.io">
            <a:extLst>
              <a:ext uri="{FF2B5EF4-FFF2-40B4-BE49-F238E27FC236}">
                <a16:creationId xmlns:a16="http://schemas.microsoft.com/office/drawing/2014/main" id="{C2769B93-2374-60B9-0DE2-CF3888FE47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6907" y="5241216"/>
            <a:ext cx="693030" cy="6930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Sap Bapi Rfc Command Reference - Vertical Png,Sap Logo Png - free  transparent png images - pngaaa.com">
            <a:extLst>
              <a:ext uri="{FF2B5EF4-FFF2-40B4-BE49-F238E27FC236}">
                <a16:creationId xmlns:a16="http://schemas.microsoft.com/office/drawing/2014/main" id="{9A5FA383-C48D-2D23-766B-75DACCA0C3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8212" y="5320100"/>
            <a:ext cx="1368735" cy="525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19895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C9970-8FD3-7D6A-2379-32E1B5778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8" name="Groupe 1077">
            <a:extLst>
              <a:ext uri="{FF2B5EF4-FFF2-40B4-BE49-F238E27FC236}">
                <a16:creationId xmlns:a16="http://schemas.microsoft.com/office/drawing/2014/main" id="{E8FA7D9E-748F-7647-22C5-C7E12B2D6D12}"/>
              </a:ext>
            </a:extLst>
          </p:cNvPr>
          <p:cNvGrpSpPr/>
          <p:nvPr/>
        </p:nvGrpSpPr>
        <p:grpSpPr>
          <a:xfrm>
            <a:off x="49161" y="95032"/>
            <a:ext cx="12093677" cy="6667935"/>
            <a:chOff x="98323" y="65011"/>
            <a:chExt cx="12093677" cy="6667935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6DB3345E-FED3-F4DE-F289-D9FE572B4009}"/>
                </a:ext>
              </a:extLst>
            </p:cNvPr>
            <p:cNvSpPr/>
            <p:nvPr/>
          </p:nvSpPr>
          <p:spPr>
            <a:xfrm>
              <a:off x="98323" y="4829015"/>
              <a:ext cx="12093677" cy="190393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BE" dirty="0">
                  <a:solidFill>
                    <a:schemeClr val="dk1"/>
                  </a:solidFill>
                </a:rPr>
                <a:t>FlexiTask.Infrastructure</a:t>
              </a:r>
            </a:p>
            <a:p>
              <a:pPr algn="ctr"/>
              <a:endParaRPr lang="fr-BE" dirty="0"/>
            </a:p>
            <a:p>
              <a:pPr algn="ctr"/>
              <a:endParaRPr lang="fr-BE" dirty="0"/>
            </a:p>
            <a:p>
              <a:pPr algn="ctr"/>
              <a:endParaRPr lang="fr-BE" dirty="0"/>
            </a:p>
            <a:p>
              <a:pPr algn="ctr"/>
              <a:endParaRPr lang="fr-BE" dirty="0"/>
            </a:p>
            <a:p>
              <a:pPr algn="ctr"/>
              <a:endParaRPr lang="fr-BE" dirty="0">
                <a:solidFill>
                  <a:schemeClr val="dk1"/>
                </a:solidFill>
              </a:endParaRPr>
            </a:p>
            <a:p>
              <a:pPr algn="ctr"/>
              <a:endParaRPr lang="fr-BE" dirty="0">
                <a:solidFill>
                  <a:schemeClr val="dk1"/>
                </a:solidFill>
              </a:endParaRPr>
            </a:p>
          </p:txBody>
        </p:sp>
        <p:sp>
          <p:nvSpPr>
            <p:cNvPr id="1062" name="Rectangle 1061">
              <a:extLst>
                <a:ext uri="{FF2B5EF4-FFF2-40B4-BE49-F238E27FC236}">
                  <a16:creationId xmlns:a16="http://schemas.microsoft.com/office/drawing/2014/main" id="{3814AB71-EE31-3DF7-22BC-59BAE0C930B3}"/>
                </a:ext>
              </a:extLst>
            </p:cNvPr>
            <p:cNvSpPr/>
            <p:nvPr/>
          </p:nvSpPr>
          <p:spPr>
            <a:xfrm>
              <a:off x="206965" y="5166353"/>
              <a:ext cx="7252538" cy="151308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BE" dirty="0"/>
                <a:t>Infrastructure.Data</a:t>
              </a:r>
            </a:p>
            <a:p>
              <a:pPr algn="ctr"/>
              <a:endParaRPr lang="fr-BE" dirty="0"/>
            </a:p>
            <a:p>
              <a:pPr algn="ctr"/>
              <a:endParaRPr lang="fr-BE" dirty="0"/>
            </a:p>
            <a:p>
              <a:pPr algn="ctr"/>
              <a:endParaRPr lang="fr-BE" dirty="0"/>
            </a:p>
            <a:p>
              <a:pPr algn="ctr"/>
              <a:endParaRPr lang="fr-BE" dirty="0"/>
            </a:p>
            <a:p>
              <a:pPr algn="ctr"/>
              <a:endParaRPr lang="fr-BE" dirty="0"/>
            </a:p>
          </p:txBody>
        </p:sp>
        <p:grpSp>
          <p:nvGrpSpPr>
            <p:cNvPr id="1058" name="Groupe 1057">
              <a:extLst>
                <a:ext uri="{FF2B5EF4-FFF2-40B4-BE49-F238E27FC236}">
                  <a16:creationId xmlns:a16="http://schemas.microsoft.com/office/drawing/2014/main" id="{A72C9282-155D-5F0F-5878-5993D3DB080B}"/>
                </a:ext>
              </a:extLst>
            </p:cNvPr>
            <p:cNvGrpSpPr/>
            <p:nvPr/>
          </p:nvGrpSpPr>
          <p:grpSpPr>
            <a:xfrm>
              <a:off x="98323" y="65011"/>
              <a:ext cx="12093677" cy="1266131"/>
              <a:chOff x="727589" y="73912"/>
              <a:chExt cx="10274709" cy="1220204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5BBB403-C143-9BDF-97E1-85A50B706BE4}"/>
                  </a:ext>
                </a:extLst>
              </p:cNvPr>
              <p:cNvSpPr/>
              <p:nvPr/>
            </p:nvSpPr>
            <p:spPr>
              <a:xfrm>
                <a:off x="727589" y="73912"/>
                <a:ext cx="10274709" cy="1220204"/>
              </a:xfrm>
              <a:prstGeom prst="rect">
                <a:avLst/>
              </a:prstGeom>
            </p:spPr>
            <p:style>
              <a:lnRef idx="0">
                <a:schemeClr val="accent4"/>
              </a:lnRef>
              <a:fillRef idx="3">
                <a:schemeClr val="accent4"/>
              </a:fillRef>
              <a:effectRef idx="3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BE" dirty="0">
                    <a:solidFill>
                      <a:schemeClr val="tx1"/>
                    </a:solidFill>
                  </a:rPr>
                  <a:t>Presentation</a:t>
                </a:r>
              </a:p>
              <a:p>
                <a:pPr algn="ctr"/>
                <a:endParaRPr lang="fr-BE" dirty="0"/>
              </a:p>
              <a:p>
                <a:pPr algn="ctr"/>
                <a:endParaRPr lang="fr-BE" dirty="0"/>
              </a:p>
              <a:p>
                <a:pPr algn="ctr"/>
                <a:endParaRPr lang="fr-BE" dirty="0"/>
              </a:p>
            </p:txBody>
          </p:sp>
          <p:grpSp>
            <p:nvGrpSpPr>
              <p:cNvPr id="1057" name="Groupe 1056">
                <a:extLst>
                  <a:ext uri="{FF2B5EF4-FFF2-40B4-BE49-F238E27FC236}">
                    <a16:creationId xmlns:a16="http://schemas.microsoft.com/office/drawing/2014/main" id="{0094DFA7-088D-FA43-0A63-0D14F33B1221}"/>
                  </a:ext>
                </a:extLst>
              </p:cNvPr>
              <p:cNvGrpSpPr/>
              <p:nvPr/>
            </p:nvGrpSpPr>
            <p:grpSpPr>
              <a:xfrm>
                <a:off x="1088467" y="378824"/>
                <a:ext cx="3894815" cy="742322"/>
                <a:chOff x="2573138" y="383996"/>
                <a:chExt cx="3894815" cy="742322"/>
              </a:xfrm>
            </p:grpSpPr>
            <p:grpSp>
              <p:nvGrpSpPr>
                <p:cNvPr id="1056" name="Groupe 1055">
                  <a:extLst>
                    <a:ext uri="{FF2B5EF4-FFF2-40B4-BE49-F238E27FC236}">
                      <a16:creationId xmlns:a16="http://schemas.microsoft.com/office/drawing/2014/main" id="{9D7AF4FB-776F-EF12-F014-18A3E8EF9E86}"/>
                    </a:ext>
                  </a:extLst>
                </p:cNvPr>
                <p:cNvGrpSpPr/>
                <p:nvPr/>
              </p:nvGrpSpPr>
              <p:grpSpPr>
                <a:xfrm>
                  <a:off x="2573138" y="383996"/>
                  <a:ext cx="3894815" cy="742322"/>
                  <a:chOff x="2573138" y="383996"/>
                  <a:chExt cx="3894815" cy="742322"/>
                </a:xfrm>
              </p:grpSpPr>
              <p:sp>
                <p:nvSpPr>
                  <p:cNvPr id="1053" name="Rectangle 1052">
                    <a:extLst>
                      <a:ext uri="{FF2B5EF4-FFF2-40B4-BE49-F238E27FC236}">
                        <a16:creationId xmlns:a16="http://schemas.microsoft.com/office/drawing/2014/main" id="{58CD22EF-9E11-72EA-0ADD-E3644D6DFE06}"/>
                      </a:ext>
                    </a:extLst>
                  </p:cNvPr>
                  <p:cNvSpPr/>
                  <p:nvPr/>
                </p:nvSpPr>
                <p:spPr>
                  <a:xfrm>
                    <a:off x="2573138" y="383996"/>
                    <a:ext cx="3894815" cy="742322"/>
                  </a:xfrm>
                  <a:prstGeom prst="rect">
                    <a:avLst/>
                  </a:prstGeom>
                  <a:solidFill>
                    <a:schemeClr val="accent1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fr-BE" dirty="0"/>
                      <a:t>FlexiTaskWebUI</a:t>
                    </a:r>
                  </a:p>
                  <a:p>
                    <a:pPr algn="ctr"/>
                    <a:endParaRPr lang="fr-BE" dirty="0"/>
                  </a:p>
                  <a:p>
                    <a:pPr algn="ctr"/>
                    <a:endParaRPr lang="fr-BE" dirty="0"/>
                  </a:p>
                </p:txBody>
              </p:sp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9EACF7D4-6751-C145-5639-5871A26338EB}"/>
                      </a:ext>
                    </a:extLst>
                  </p:cNvPr>
                  <p:cNvSpPr/>
                  <p:nvPr/>
                </p:nvSpPr>
                <p:spPr>
                  <a:xfrm>
                    <a:off x="2903299" y="675261"/>
                    <a:ext cx="1634617" cy="335526"/>
                  </a:xfrm>
                  <a:prstGeom prst="rect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fr-BE" dirty="0"/>
                      <a:t>Components</a:t>
                    </a:r>
                  </a:p>
                </p:txBody>
              </p:sp>
            </p:grp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B8D19ED8-4BB6-498F-6D81-33150012D683}"/>
                    </a:ext>
                  </a:extLst>
                </p:cNvPr>
                <p:cNvSpPr/>
                <p:nvPr/>
              </p:nvSpPr>
              <p:spPr>
                <a:xfrm>
                  <a:off x="4683842" y="680721"/>
                  <a:ext cx="1450459" cy="335526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BE" dirty="0"/>
                    <a:t>Services</a:t>
                  </a:r>
                </a:p>
              </p:txBody>
            </p:sp>
          </p:grpSp>
        </p:grpSp>
        <p:grpSp>
          <p:nvGrpSpPr>
            <p:cNvPr id="1060" name="Groupe 1059">
              <a:extLst>
                <a:ext uri="{FF2B5EF4-FFF2-40B4-BE49-F238E27FC236}">
                  <a16:creationId xmlns:a16="http://schemas.microsoft.com/office/drawing/2014/main" id="{BEA6EDE7-481C-29EB-4E86-854EB4C33CDD}"/>
                </a:ext>
              </a:extLst>
            </p:cNvPr>
            <p:cNvGrpSpPr/>
            <p:nvPr/>
          </p:nvGrpSpPr>
          <p:grpSpPr>
            <a:xfrm>
              <a:off x="98323" y="1430201"/>
              <a:ext cx="12093677" cy="1863229"/>
              <a:chOff x="727589" y="1529739"/>
              <a:chExt cx="10274709" cy="2106871"/>
            </a:xfrm>
          </p:grpSpPr>
          <p:grpSp>
            <p:nvGrpSpPr>
              <p:cNvPr id="1059" name="Groupe 1058">
                <a:extLst>
                  <a:ext uri="{FF2B5EF4-FFF2-40B4-BE49-F238E27FC236}">
                    <a16:creationId xmlns:a16="http://schemas.microsoft.com/office/drawing/2014/main" id="{48A9D050-E666-E6F6-94D5-029669598C51}"/>
                  </a:ext>
                </a:extLst>
              </p:cNvPr>
              <p:cNvGrpSpPr/>
              <p:nvPr/>
            </p:nvGrpSpPr>
            <p:grpSpPr>
              <a:xfrm>
                <a:off x="727589" y="1529739"/>
                <a:ext cx="10274709" cy="2106871"/>
                <a:chOff x="727589" y="1656939"/>
                <a:chExt cx="10274709" cy="2106871"/>
              </a:xfrm>
            </p:grpSpPr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1534BBB3-D5CE-CE06-B92B-59D9C6C14206}"/>
                    </a:ext>
                  </a:extLst>
                </p:cNvPr>
                <p:cNvSpPr/>
                <p:nvPr/>
              </p:nvSpPr>
              <p:spPr>
                <a:xfrm>
                  <a:off x="727589" y="1656939"/>
                  <a:ext cx="10274709" cy="2106871"/>
                </a:xfrm>
                <a:prstGeom prst="rect">
                  <a:avLst/>
                </a:prstGeom>
                <a:solidFill>
                  <a:schemeClr val="accent3">
                    <a:lumMod val="50000"/>
                    <a:alpha val="5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BE" dirty="0">
                      <a:solidFill>
                        <a:schemeClr val="tx1"/>
                      </a:solidFill>
                    </a:rPr>
                    <a:t>FlexiTask.Application</a:t>
                  </a:r>
                </a:p>
                <a:p>
                  <a:pPr algn="ctr"/>
                  <a:endParaRPr lang="fr-BE" dirty="0"/>
                </a:p>
                <a:p>
                  <a:pPr algn="ctr"/>
                  <a:endParaRPr lang="fr-BE" dirty="0"/>
                </a:p>
                <a:p>
                  <a:pPr algn="ctr"/>
                  <a:endParaRPr lang="fr-BE" dirty="0"/>
                </a:p>
                <a:p>
                  <a:pPr algn="ctr"/>
                  <a:endParaRPr lang="fr-BE" dirty="0"/>
                </a:p>
                <a:p>
                  <a:pPr algn="ctr"/>
                  <a:endParaRPr lang="fr-BE" dirty="0"/>
                </a:p>
                <a:p>
                  <a:pPr algn="ctr"/>
                  <a:endParaRPr lang="fr-BE" dirty="0"/>
                </a:p>
              </p:txBody>
            </p:sp>
            <p:grpSp>
              <p:nvGrpSpPr>
                <p:cNvPr id="24" name="Groupe 23">
                  <a:extLst>
                    <a:ext uri="{FF2B5EF4-FFF2-40B4-BE49-F238E27FC236}">
                      <a16:creationId xmlns:a16="http://schemas.microsoft.com/office/drawing/2014/main" id="{54F5C70C-5159-0727-D7AE-A3D6B2EEA593}"/>
                    </a:ext>
                  </a:extLst>
                </p:cNvPr>
                <p:cNvGrpSpPr/>
                <p:nvPr/>
              </p:nvGrpSpPr>
              <p:grpSpPr>
                <a:xfrm>
                  <a:off x="764409" y="1949847"/>
                  <a:ext cx="3537161" cy="1580532"/>
                  <a:chOff x="764409" y="1949847"/>
                  <a:chExt cx="3537161" cy="1580532"/>
                </a:xfrm>
              </p:grpSpPr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D07FE5B8-00A3-B122-724C-1DE8A6751703}"/>
                      </a:ext>
                    </a:extLst>
                  </p:cNvPr>
                  <p:cNvSpPr/>
                  <p:nvPr/>
                </p:nvSpPr>
                <p:spPr>
                  <a:xfrm>
                    <a:off x="764409" y="1949847"/>
                    <a:ext cx="3537161" cy="1580532"/>
                  </a:xfrm>
                  <a:prstGeom prst="rect">
                    <a:avLst/>
                  </a:prstGeom>
                  <a:solidFill>
                    <a:schemeClr val="accent3"/>
                  </a:solidFill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BE" b="1" dirty="0">
                      <a:solidFill>
                        <a:schemeClr val="bg1"/>
                      </a:solidFill>
                    </a:endParaRPr>
                  </a:p>
                  <a:p>
                    <a:pPr algn="ctr"/>
                    <a:r>
                      <a:rPr lang="fr-BE" sz="2000" b="1" dirty="0">
                        <a:solidFill>
                          <a:schemeClr val="bg1"/>
                        </a:solidFill>
                      </a:rPr>
                      <a:t> Application.Commons</a:t>
                    </a:r>
                  </a:p>
                  <a:p>
                    <a:pPr algn="ctr"/>
                    <a:endParaRPr lang="fr-BE" b="1" dirty="0">
                      <a:solidFill>
                        <a:schemeClr val="bg1"/>
                      </a:solidFill>
                    </a:endParaRPr>
                  </a:p>
                  <a:p>
                    <a:pPr algn="ctr"/>
                    <a:endParaRPr lang="fr-BE" b="1" dirty="0">
                      <a:solidFill>
                        <a:schemeClr val="bg1"/>
                      </a:solidFill>
                    </a:endParaRPr>
                  </a:p>
                  <a:p>
                    <a:pPr algn="ctr"/>
                    <a:endParaRPr lang="fr-BE" b="1" dirty="0">
                      <a:solidFill>
                        <a:schemeClr val="bg1"/>
                      </a:solidFill>
                    </a:endParaRPr>
                  </a:p>
                  <a:p>
                    <a:pPr algn="ctr"/>
                    <a:endParaRPr lang="fr-BE" b="1" dirty="0">
                      <a:solidFill>
                        <a:schemeClr val="bg1"/>
                      </a:solidFill>
                    </a:endParaRPr>
                  </a:p>
                  <a:p>
                    <a:pPr algn="ctr"/>
                    <a:endParaRPr lang="fr-BE" b="1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F4DF7CD8-7BC9-C02D-AE8A-E332D74B2E4C}"/>
                      </a:ext>
                    </a:extLst>
                  </p:cNvPr>
                  <p:cNvSpPr/>
                  <p:nvPr/>
                </p:nvSpPr>
                <p:spPr>
                  <a:xfrm>
                    <a:off x="852925" y="2339295"/>
                    <a:ext cx="1634617" cy="333301"/>
                  </a:xfrm>
                  <a:prstGeom prst="rect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fr-BE" dirty="0"/>
                      <a:t>Behaviours</a:t>
                    </a:r>
                  </a:p>
                </p:txBody>
              </p:sp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A67F70FB-3CFA-7DBA-C066-1E68EDA16409}"/>
                      </a:ext>
                    </a:extLst>
                  </p:cNvPr>
                  <p:cNvSpPr/>
                  <p:nvPr/>
                </p:nvSpPr>
                <p:spPr>
                  <a:xfrm>
                    <a:off x="852924" y="2713689"/>
                    <a:ext cx="1634617" cy="335526"/>
                  </a:xfrm>
                  <a:prstGeom prst="rect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fr-BE" dirty="0"/>
                      <a:t>Exceptions</a:t>
                    </a:r>
                  </a:p>
                </p:txBody>
              </p:sp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599412C0-C9C1-965F-91BD-F48F6894ADDA}"/>
                      </a:ext>
                    </a:extLst>
                  </p:cNvPr>
                  <p:cNvSpPr/>
                  <p:nvPr/>
                </p:nvSpPr>
                <p:spPr>
                  <a:xfrm>
                    <a:off x="840529" y="3103502"/>
                    <a:ext cx="1634617" cy="335526"/>
                  </a:xfrm>
                  <a:prstGeom prst="rect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fr-BE" dirty="0"/>
                      <a:t>Interfaces</a:t>
                    </a:r>
                  </a:p>
                </p:txBody>
              </p:sp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D06323B2-2FEC-D410-A6DD-A479BF3525CE}"/>
                      </a:ext>
                    </a:extLst>
                  </p:cNvPr>
                  <p:cNvSpPr/>
                  <p:nvPr/>
                </p:nvSpPr>
                <p:spPr>
                  <a:xfrm>
                    <a:off x="2546818" y="2731836"/>
                    <a:ext cx="1634617" cy="335526"/>
                  </a:xfrm>
                  <a:prstGeom prst="rect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fr-BE" dirty="0"/>
                      <a:t>Mappings</a:t>
                    </a:r>
                  </a:p>
                </p:txBody>
              </p:sp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E89236D7-A8F2-0593-C3C9-CFE4D30E2D25}"/>
                      </a:ext>
                    </a:extLst>
                  </p:cNvPr>
                  <p:cNvSpPr/>
                  <p:nvPr/>
                </p:nvSpPr>
                <p:spPr>
                  <a:xfrm>
                    <a:off x="2546819" y="2343065"/>
                    <a:ext cx="1634617" cy="335526"/>
                  </a:xfrm>
                  <a:prstGeom prst="rect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fr-BE" dirty="0"/>
                      <a:t>Models</a:t>
                    </a:r>
                  </a:p>
                </p:txBody>
              </p:sp>
            </p:grp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2103F5E7-E87A-60AD-664C-7A2F8D3DC76E}"/>
                    </a:ext>
                  </a:extLst>
                </p:cNvPr>
                <p:cNvSpPr/>
                <p:nvPr/>
              </p:nvSpPr>
              <p:spPr>
                <a:xfrm>
                  <a:off x="4390085" y="1949849"/>
                  <a:ext cx="6528679" cy="1655248"/>
                </a:xfrm>
                <a:prstGeom prst="rect">
                  <a:avLst/>
                </a:prstGeom>
                <a:solidFill>
                  <a:schemeClr val="accent3"/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fr-BE" b="1" dirty="0">
                    <a:solidFill>
                      <a:schemeClr val="bg1"/>
                    </a:solidFill>
                  </a:endParaRPr>
                </a:p>
                <a:p>
                  <a:pPr algn="ctr"/>
                  <a:r>
                    <a:rPr lang="fr-BE" b="1" dirty="0">
                      <a:solidFill>
                        <a:schemeClr val="bg1"/>
                      </a:solidFill>
                    </a:rPr>
                    <a:t> Application.Features</a:t>
                  </a:r>
                </a:p>
                <a:p>
                  <a:pPr algn="ctr"/>
                  <a:endParaRPr lang="fr-BE" b="1" dirty="0">
                    <a:solidFill>
                      <a:schemeClr val="bg1"/>
                    </a:solidFill>
                  </a:endParaRPr>
                </a:p>
                <a:p>
                  <a:pPr algn="ctr"/>
                  <a:endParaRPr lang="fr-BE" b="1" dirty="0">
                    <a:solidFill>
                      <a:schemeClr val="bg1"/>
                    </a:solidFill>
                  </a:endParaRPr>
                </a:p>
                <a:p>
                  <a:pPr algn="ctr"/>
                  <a:endParaRPr lang="fr-BE" b="1" dirty="0">
                    <a:solidFill>
                      <a:schemeClr val="bg1"/>
                    </a:solidFill>
                  </a:endParaRPr>
                </a:p>
                <a:p>
                  <a:pPr algn="ctr"/>
                  <a:endParaRPr lang="fr-BE" b="1" dirty="0">
                    <a:solidFill>
                      <a:schemeClr val="bg1"/>
                    </a:solidFill>
                  </a:endParaRPr>
                </a:p>
                <a:p>
                  <a:pPr algn="ctr"/>
                  <a:endParaRPr lang="fr-BE" b="1" dirty="0">
                    <a:solidFill>
                      <a:schemeClr val="bg1"/>
                    </a:solidFill>
                  </a:endParaRPr>
                </a:p>
              </p:txBody>
            </p:sp>
          </p:grp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537EF9A9-850F-F76E-C591-FA3D717A4625}"/>
                  </a:ext>
                </a:extLst>
              </p:cNvPr>
              <p:cNvSpPr/>
              <p:nvPr/>
            </p:nvSpPr>
            <p:spPr>
              <a:xfrm>
                <a:off x="4463905" y="2146261"/>
                <a:ext cx="6376058" cy="1244922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BE" dirty="0"/>
                  <a:t>Features.Tasks</a:t>
                </a:r>
                <a:br>
                  <a:rPr lang="fr-BE" dirty="0"/>
                </a:br>
                <a:endParaRPr lang="fr-BE" dirty="0"/>
              </a:p>
              <a:p>
                <a:pPr algn="ctr"/>
                <a:endParaRPr lang="fr-BE" dirty="0"/>
              </a:p>
              <a:p>
                <a:pPr algn="ctr"/>
                <a:endParaRPr lang="fr-BE" dirty="0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6BCB44F8-BED3-9D08-1C41-6BCAEF14A557}"/>
                  </a:ext>
                </a:extLst>
              </p:cNvPr>
              <p:cNvSpPr/>
              <p:nvPr/>
            </p:nvSpPr>
            <p:spPr>
              <a:xfrm>
                <a:off x="4699144" y="2449677"/>
                <a:ext cx="1897489" cy="885277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fr-BE" dirty="0"/>
                  <a:t>Tasks.Commands</a:t>
                </a:r>
              </a:p>
              <a:p>
                <a:pPr algn="ctr"/>
                <a:endParaRPr lang="fr-BE" dirty="0"/>
              </a:p>
              <a:p>
                <a:pPr algn="ctr"/>
                <a:endParaRPr lang="fr-BE" dirty="0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8884C30B-DA92-E6DE-600E-04BA5C38E2CE}"/>
                  </a:ext>
                </a:extLst>
              </p:cNvPr>
              <p:cNvSpPr/>
              <p:nvPr/>
            </p:nvSpPr>
            <p:spPr>
              <a:xfrm>
                <a:off x="8381280" y="2445696"/>
                <a:ext cx="1923552" cy="875594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fr-BE" dirty="0"/>
                  <a:t>Tasks.Queries</a:t>
                </a:r>
              </a:p>
              <a:p>
                <a:pPr algn="ctr"/>
                <a:endParaRPr lang="fr-BE" dirty="0"/>
              </a:p>
              <a:p>
                <a:pPr algn="ctr"/>
                <a:endParaRPr lang="fr-BE" dirty="0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1CA5E67C-F31B-E212-34A6-4814B16FEE12}"/>
                  </a:ext>
                </a:extLst>
              </p:cNvPr>
              <p:cNvSpPr/>
              <p:nvPr/>
            </p:nvSpPr>
            <p:spPr>
              <a:xfrm>
                <a:off x="6637393" y="2445025"/>
                <a:ext cx="1691640" cy="885277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fr-BE" sz="1400" dirty="0"/>
                  <a:t>Tasks.EventHandlers</a:t>
                </a:r>
              </a:p>
              <a:p>
                <a:pPr algn="ctr"/>
                <a:endParaRPr lang="fr-BE" dirty="0"/>
              </a:p>
              <a:p>
                <a:pPr algn="ctr"/>
                <a:endParaRPr lang="fr-BE" dirty="0"/>
              </a:p>
            </p:txBody>
          </p:sp>
        </p:grpSp>
        <p:grpSp>
          <p:nvGrpSpPr>
            <p:cNvPr id="1048" name="Groupe 1047">
              <a:extLst>
                <a:ext uri="{FF2B5EF4-FFF2-40B4-BE49-F238E27FC236}">
                  <a16:creationId xmlns:a16="http://schemas.microsoft.com/office/drawing/2014/main" id="{8F625D8E-06E9-F021-26A1-EB21D629473E}"/>
                </a:ext>
              </a:extLst>
            </p:cNvPr>
            <p:cNvGrpSpPr/>
            <p:nvPr/>
          </p:nvGrpSpPr>
          <p:grpSpPr>
            <a:xfrm>
              <a:off x="98323" y="3272499"/>
              <a:ext cx="12093677" cy="1525312"/>
              <a:chOff x="147485" y="3810070"/>
              <a:chExt cx="10274709" cy="21323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D33F1C4-93FB-9AA6-A837-7E3A19900CD5}"/>
                  </a:ext>
                </a:extLst>
              </p:cNvPr>
              <p:cNvSpPr/>
              <p:nvPr/>
            </p:nvSpPr>
            <p:spPr>
              <a:xfrm>
                <a:off x="147485" y="3810070"/>
                <a:ext cx="10274709" cy="2132305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fr-BE" dirty="0">
                  <a:solidFill>
                    <a:schemeClr val="dk1"/>
                  </a:solidFill>
                </a:endParaRPr>
              </a:p>
              <a:p>
                <a:pPr algn="ctr"/>
                <a:r>
                  <a:rPr lang="fr-BE" dirty="0">
                    <a:solidFill>
                      <a:schemeClr val="dk1"/>
                    </a:solidFill>
                  </a:rPr>
                  <a:t>FlexiTask.Domain</a:t>
                </a:r>
              </a:p>
              <a:p>
                <a:pPr algn="ctr"/>
                <a:endParaRPr lang="fr-BE" dirty="0"/>
              </a:p>
              <a:p>
                <a:pPr algn="ctr"/>
                <a:endParaRPr lang="fr-BE" dirty="0">
                  <a:solidFill>
                    <a:schemeClr val="dk1"/>
                  </a:solidFill>
                </a:endParaRPr>
              </a:p>
              <a:p>
                <a:pPr algn="ctr"/>
                <a:endParaRPr lang="fr-BE" dirty="0"/>
              </a:p>
              <a:p>
                <a:pPr algn="ctr"/>
                <a:endParaRPr lang="fr-BE" dirty="0">
                  <a:solidFill>
                    <a:schemeClr val="dk1"/>
                  </a:solidFill>
                </a:endParaRPr>
              </a:p>
              <a:p>
                <a:pPr algn="ctr"/>
                <a:br>
                  <a:rPr lang="fr-BE" dirty="0">
                    <a:solidFill>
                      <a:schemeClr val="dk1"/>
                    </a:solidFill>
                  </a:rPr>
                </a:br>
                <a:endParaRPr lang="fr-BE" dirty="0">
                  <a:solidFill>
                    <a:schemeClr val="dk1"/>
                  </a:solidFill>
                </a:endParaRPr>
              </a:p>
            </p:txBody>
          </p:sp>
          <p:grpSp>
            <p:nvGrpSpPr>
              <p:cNvPr id="1042" name="Groupe 1041">
                <a:extLst>
                  <a:ext uri="{FF2B5EF4-FFF2-40B4-BE49-F238E27FC236}">
                    <a16:creationId xmlns:a16="http://schemas.microsoft.com/office/drawing/2014/main" id="{62247ADC-F2FA-80F2-181D-4A0D503B89E1}"/>
                  </a:ext>
                </a:extLst>
              </p:cNvPr>
              <p:cNvGrpSpPr/>
              <p:nvPr/>
            </p:nvGrpSpPr>
            <p:grpSpPr>
              <a:xfrm>
                <a:off x="286348" y="4216834"/>
                <a:ext cx="2002108" cy="1580532"/>
                <a:chOff x="1843222" y="4287171"/>
                <a:chExt cx="2002108" cy="1580532"/>
              </a:xfrm>
            </p:grpSpPr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693B93E0-DED0-4B78-AF52-B83E032D0F36}"/>
                    </a:ext>
                  </a:extLst>
                </p:cNvPr>
                <p:cNvSpPr/>
                <p:nvPr/>
              </p:nvSpPr>
              <p:spPr>
                <a:xfrm>
                  <a:off x="1843222" y="4287171"/>
                  <a:ext cx="2002108" cy="1580532"/>
                </a:xfrm>
                <a:prstGeom prst="rect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fr-BE" b="1" dirty="0">
                    <a:solidFill>
                      <a:schemeClr val="bg1"/>
                    </a:solidFill>
                  </a:endParaRPr>
                </a:p>
                <a:p>
                  <a:pPr algn="ctr"/>
                  <a:r>
                    <a:rPr lang="fr-BE" b="1" dirty="0">
                      <a:solidFill>
                        <a:schemeClr val="bg1"/>
                      </a:solidFill>
                    </a:rPr>
                    <a:t>                         </a:t>
                  </a:r>
                  <a:r>
                    <a:rPr lang="fr-BE" sz="1400" b="1" dirty="0">
                      <a:solidFill>
                        <a:schemeClr val="tx1"/>
                      </a:solidFill>
                    </a:rPr>
                    <a:t>Domain.Commons</a:t>
                  </a:r>
                </a:p>
                <a:p>
                  <a:pPr algn="ctr"/>
                  <a:endParaRPr lang="fr-BE" b="1" dirty="0">
                    <a:solidFill>
                      <a:schemeClr val="bg1"/>
                    </a:solidFill>
                  </a:endParaRPr>
                </a:p>
                <a:p>
                  <a:pPr algn="ctr"/>
                  <a:endParaRPr lang="fr-BE" b="1" dirty="0">
                    <a:solidFill>
                      <a:schemeClr val="bg1"/>
                    </a:solidFill>
                  </a:endParaRPr>
                </a:p>
                <a:p>
                  <a:pPr algn="ctr"/>
                  <a:endParaRPr lang="fr-BE" b="1" dirty="0">
                    <a:solidFill>
                      <a:schemeClr val="bg1"/>
                    </a:solidFill>
                  </a:endParaRPr>
                </a:p>
                <a:p>
                  <a:pPr algn="ctr"/>
                  <a:endParaRPr lang="fr-BE" b="1" dirty="0">
                    <a:solidFill>
                      <a:schemeClr val="bg1"/>
                    </a:solidFill>
                  </a:endParaRPr>
                </a:p>
                <a:p>
                  <a:pPr algn="ctr"/>
                  <a:endParaRPr lang="fr-BE" b="1" dirty="0">
                    <a:solidFill>
                      <a:schemeClr val="bg1"/>
                    </a:solidFill>
                  </a:endParaRPr>
                </a:p>
                <a:p>
                  <a:pPr algn="ctr"/>
                  <a:endParaRPr lang="fr-BE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2B1FE3BF-AB86-4017-3008-593ABAC225E1}"/>
                    </a:ext>
                  </a:extLst>
                </p:cNvPr>
                <p:cNvSpPr/>
                <p:nvPr/>
              </p:nvSpPr>
              <p:spPr>
                <a:xfrm>
                  <a:off x="1894839" y="4676553"/>
                  <a:ext cx="1716963" cy="3333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BE" dirty="0"/>
                    <a:t>Base Auditable</a:t>
                  </a:r>
                </a:p>
              </p:txBody>
            </p:sp>
            <p:sp>
              <p:nvSpPr>
                <p:cNvPr id="57" name="Rectangle 56">
                  <a:extLst>
                    <a:ext uri="{FF2B5EF4-FFF2-40B4-BE49-F238E27FC236}">
                      <a16:creationId xmlns:a16="http://schemas.microsoft.com/office/drawing/2014/main" id="{A949ABFA-D14B-ADF5-4C0B-24BC2C201080}"/>
                    </a:ext>
                  </a:extLst>
                </p:cNvPr>
                <p:cNvSpPr/>
                <p:nvPr/>
              </p:nvSpPr>
              <p:spPr>
                <a:xfrm>
                  <a:off x="1894840" y="5060859"/>
                  <a:ext cx="1716962" cy="335526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BE" dirty="0"/>
                    <a:t>Base Entity</a:t>
                  </a:r>
                </a:p>
              </p:txBody>
            </p:sp>
            <p:sp>
              <p:nvSpPr>
                <p:cNvPr id="58" name="Rectangle 57">
                  <a:extLst>
                    <a:ext uri="{FF2B5EF4-FFF2-40B4-BE49-F238E27FC236}">
                      <a16:creationId xmlns:a16="http://schemas.microsoft.com/office/drawing/2014/main" id="{DA169B96-C6A9-2146-CB60-E98729723AA9}"/>
                    </a:ext>
                  </a:extLst>
                </p:cNvPr>
                <p:cNvSpPr/>
                <p:nvPr/>
              </p:nvSpPr>
              <p:spPr>
                <a:xfrm>
                  <a:off x="1894840" y="5440007"/>
                  <a:ext cx="1716962" cy="335526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BE" dirty="0"/>
                    <a:t>Base Event</a:t>
                  </a:r>
                </a:p>
              </p:txBody>
            </p:sp>
          </p:grpSp>
          <p:grpSp>
            <p:nvGrpSpPr>
              <p:cNvPr id="1043" name="Groupe 1042">
                <a:extLst>
                  <a:ext uri="{FF2B5EF4-FFF2-40B4-BE49-F238E27FC236}">
                    <a16:creationId xmlns:a16="http://schemas.microsoft.com/office/drawing/2014/main" id="{57AF50A4-A1CC-0A6F-48EE-FEAF6B2DC1B6}"/>
                  </a:ext>
                </a:extLst>
              </p:cNvPr>
              <p:cNvGrpSpPr/>
              <p:nvPr/>
            </p:nvGrpSpPr>
            <p:grpSpPr>
              <a:xfrm>
                <a:off x="2353952" y="4216834"/>
                <a:ext cx="2807421" cy="1580532"/>
                <a:chOff x="4360295" y="4284417"/>
                <a:chExt cx="2807421" cy="1580532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F0C7234-8F05-5A20-1498-7BC17D09F875}"/>
                    </a:ext>
                  </a:extLst>
                </p:cNvPr>
                <p:cNvSpPr/>
                <p:nvPr/>
              </p:nvSpPr>
              <p:spPr>
                <a:xfrm>
                  <a:off x="4360295" y="4284417"/>
                  <a:ext cx="2807421" cy="1580532"/>
                </a:xfrm>
                <a:prstGeom prst="rect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fr-BE" b="1" dirty="0">
                    <a:solidFill>
                      <a:schemeClr val="bg1"/>
                    </a:solidFill>
                  </a:endParaRPr>
                </a:p>
                <a:p>
                  <a:pPr algn="ctr"/>
                  <a:r>
                    <a:rPr lang="fr-BE" b="1" dirty="0">
                      <a:solidFill>
                        <a:schemeClr val="bg1"/>
                      </a:solidFill>
                    </a:rPr>
                    <a:t>                         </a:t>
                  </a:r>
                </a:p>
                <a:p>
                  <a:pPr algn="ctr"/>
                  <a:r>
                    <a:rPr lang="fr-BE" sz="1600" b="1" dirty="0">
                      <a:solidFill>
                        <a:schemeClr val="tx1"/>
                      </a:solidFill>
                    </a:rPr>
                    <a:t>Domain</a:t>
                  </a:r>
                  <a:r>
                    <a:rPr lang="fr-BE" b="1" dirty="0">
                      <a:solidFill>
                        <a:schemeClr val="tx1"/>
                      </a:solidFill>
                    </a:rPr>
                    <a:t>.</a:t>
                  </a:r>
                  <a:r>
                    <a:rPr lang="fr-BE" sz="1400" b="1" dirty="0">
                      <a:solidFill>
                        <a:schemeClr val="tx1"/>
                      </a:solidFill>
                    </a:rPr>
                    <a:t>Entities</a:t>
                  </a:r>
                  <a:endParaRPr lang="fr-BE" b="1" dirty="0">
                    <a:solidFill>
                      <a:schemeClr val="tx1"/>
                    </a:solidFill>
                  </a:endParaRPr>
                </a:p>
                <a:p>
                  <a:pPr algn="ctr"/>
                  <a:endParaRPr lang="fr-BE" b="1" dirty="0">
                    <a:solidFill>
                      <a:schemeClr val="bg1"/>
                    </a:solidFill>
                  </a:endParaRPr>
                </a:p>
                <a:p>
                  <a:pPr algn="ctr"/>
                  <a:endParaRPr lang="fr-BE" b="1" dirty="0">
                    <a:solidFill>
                      <a:schemeClr val="bg1"/>
                    </a:solidFill>
                  </a:endParaRPr>
                </a:p>
                <a:p>
                  <a:pPr algn="ctr"/>
                  <a:endParaRPr lang="fr-BE" b="1" dirty="0">
                    <a:solidFill>
                      <a:schemeClr val="bg1"/>
                    </a:solidFill>
                  </a:endParaRPr>
                </a:p>
                <a:p>
                  <a:pPr algn="ctr"/>
                  <a:endParaRPr lang="fr-BE" b="1" dirty="0">
                    <a:solidFill>
                      <a:schemeClr val="bg1"/>
                    </a:solidFill>
                  </a:endParaRPr>
                </a:p>
                <a:p>
                  <a:pPr algn="ctr"/>
                  <a:endParaRPr lang="fr-BE" b="1" dirty="0">
                    <a:solidFill>
                      <a:schemeClr val="bg1"/>
                    </a:solidFill>
                  </a:endParaRPr>
                </a:p>
                <a:p>
                  <a:pPr algn="ctr"/>
                  <a:endParaRPr lang="fr-BE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024" name="Rectangle 1023">
                  <a:extLst>
                    <a:ext uri="{FF2B5EF4-FFF2-40B4-BE49-F238E27FC236}">
                      <a16:creationId xmlns:a16="http://schemas.microsoft.com/office/drawing/2014/main" id="{21202C89-8B57-C664-6C47-AB8AD1AB0869}"/>
                    </a:ext>
                  </a:extLst>
                </p:cNvPr>
                <p:cNvSpPr/>
                <p:nvPr/>
              </p:nvSpPr>
              <p:spPr>
                <a:xfrm>
                  <a:off x="4401264" y="4673799"/>
                  <a:ext cx="1297385" cy="333301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BE" dirty="0"/>
                    <a:t>Task</a:t>
                  </a:r>
                </a:p>
              </p:txBody>
            </p:sp>
            <p:sp>
              <p:nvSpPr>
                <p:cNvPr id="1025" name="Rectangle 1024">
                  <a:extLst>
                    <a:ext uri="{FF2B5EF4-FFF2-40B4-BE49-F238E27FC236}">
                      <a16:creationId xmlns:a16="http://schemas.microsoft.com/office/drawing/2014/main" id="{D56DFCD8-4D3F-91BA-5028-6EBF0E105315}"/>
                    </a:ext>
                  </a:extLst>
                </p:cNvPr>
                <p:cNvSpPr/>
                <p:nvPr/>
              </p:nvSpPr>
              <p:spPr>
                <a:xfrm>
                  <a:off x="4401265" y="5058105"/>
                  <a:ext cx="1297385" cy="335526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BE" dirty="0"/>
                    <a:t>Task Items</a:t>
                  </a:r>
                </a:p>
              </p:txBody>
            </p:sp>
            <p:sp>
              <p:nvSpPr>
                <p:cNvPr id="1026" name="Rectangle 1025">
                  <a:extLst>
                    <a:ext uri="{FF2B5EF4-FFF2-40B4-BE49-F238E27FC236}">
                      <a16:creationId xmlns:a16="http://schemas.microsoft.com/office/drawing/2014/main" id="{E9DE6BEF-201D-AFE2-2A74-38B6D978E3F4}"/>
                    </a:ext>
                  </a:extLst>
                </p:cNvPr>
                <p:cNvSpPr/>
                <p:nvPr/>
              </p:nvSpPr>
              <p:spPr>
                <a:xfrm>
                  <a:off x="4401265" y="5437253"/>
                  <a:ext cx="1297385" cy="335526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BE" dirty="0"/>
                    <a:t>Plant</a:t>
                  </a:r>
                </a:p>
              </p:txBody>
            </p:sp>
            <p:sp>
              <p:nvSpPr>
                <p:cNvPr id="1029" name="Rectangle 1028">
                  <a:extLst>
                    <a:ext uri="{FF2B5EF4-FFF2-40B4-BE49-F238E27FC236}">
                      <a16:creationId xmlns:a16="http://schemas.microsoft.com/office/drawing/2014/main" id="{CFAFE0AF-F9CB-37DD-3C7D-1D7E91D6DF2A}"/>
                    </a:ext>
                  </a:extLst>
                </p:cNvPr>
                <p:cNvSpPr/>
                <p:nvPr/>
              </p:nvSpPr>
              <p:spPr>
                <a:xfrm>
                  <a:off x="5760829" y="5437253"/>
                  <a:ext cx="1297385" cy="335526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BE" dirty="0"/>
                    <a:t>WorkArea</a:t>
                  </a:r>
                </a:p>
              </p:txBody>
            </p:sp>
          </p:grpSp>
          <p:grpSp>
            <p:nvGrpSpPr>
              <p:cNvPr id="1044" name="Groupe 1043">
                <a:extLst>
                  <a:ext uri="{FF2B5EF4-FFF2-40B4-BE49-F238E27FC236}">
                    <a16:creationId xmlns:a16="http://schemas.microsoft.com/office/drawing/2014/main" id="{EDCF3E39-824C-9FBC-6E32-67A2496FC001}"/>
                  </a:ext>
                </a:extLst>
              </p:cNvPr>
              <p:cNvGrpSpPr/>
              <p:nvPr/>
            </p:nvGrpSpPr>
            <p:grpSpPr>
              <a:xfrm>
                <a:off x="5255341" y="4225462"/>
                <a:ext cx="2807421" cy="1580532"/>
                <a:chOff x="7131572" y="4267839"/>
                <a:chExt cx="2807421" cy="1580532"/>
              </a:xfrm>
            </p:grpSpPr>
            <p:sp>
              <p:nvSpPr>
                <p:cNvPr id="1031" name="Rectangle 1030">
                  <a:extLst>
                    <a:ext uri="{FF2B5EF4-FFF2-40B4-BE49-F238E27FC236}">
                      <a16:creationId xmlns:a16="http://schemas.microsoft.com/office/drawing/2014/main" id="{7D0F5929-1E27-C95F-13B5-24BCCB182443}"/>
                    </a:ext>
                  </a:extLst>
                </p:cNvPr>
                <p:cNvSpPr/>
                <p:nvPr/>
              </p:nvSpPr>
              <p:spPr>
                <a:xfrm>
                  <a:off x="7131572" y="4267839"/>
                  <a:ext cx="2807421" cy="1580532"/>
                </a:xfrm>
                <a:prstGeom prst="rect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fr-BE" b="1" dirty="0">
                    <a:solidFill>
                      <a:schemeClr val="bg1"/>
                    </a:solidFill>
                  </a:endParaRPr>
                </a:p>
                <a:p>
                  <a:pPr algn="ctr"/>
                  <a:r>
                    <a:rPr lang="fr-BE" sz="1600" b="1" dirty="0">
                      <a:solidFill>
                        <a:schemeClr val="tx1"/>
                      </a:solidFill>
                    </a:rPr>
                    <a:t>Domain.Events</a:t>
                  </a:r>
                </a:p>
                <a:p>
                  <a:pPr algn="ctr"/>
                  <a:endParaRPr lang="fr-BE" b="1" dirty="0">
                    <a:solidFill>
                      <a:schemeClr val="bg1"/>
                    </a:solidFill>
                  </a:endParaRPr>
                </a:p>
                <a:p>
                  <a:pPr algn="ctr"/>
                  <a:endParaRPr lang="fr-BE" b="1" dirty="0">
                    <a:solidFill>
                      <a:schemeClr val="bg1"/>
                    </a:solidFill>
                  </a:endParaRPr>
                </a:p>
                <a:p>
                  <a:pPr algn="ctr"/>
                  <a:endParaRPr lang="fr-BE" b="1" dirty="0">
                    <a:solidFill>
                      <a:schemeClr val="bg1"/>
                    </a:solidFill>
                  </a:endParaRPr>
                </a:p>
                <a:p>
                  <a:pPr algn="ctr"/>
                  <a:endParaRPr lang="fr-BE" b="1" dirty="0">
                    <a:solidFill>
                      <a:schemeClr val="bg1"/>
                    </a:solidFill>
                  </a:endParaRPr>
                </a:p>
                <a:p>
                  <a:pPr algn="ctr"/>
                  <a:endParaRPr lang="fr-BE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033" name="Rectangle 1032">
                  <a:extLst>
                    <a:ext uri="{FF2B5EF4-FFF2-40B4-BE49-F238E27FC236}">
                      <a16:creationId xmlns:a16="http://schemas.microsoft.com/office/drawing/2014/main" id="{DB12DF08-A409-AD57-F62B-713B55A12EF8}"/>
                    </a:ext>
                  </a:extLst>
                </p:cNvPr>
                <p:cNvSpPr/>
                <p:nvPr/>
              </p:nvSpPr>
              <p:spPr>
                <a:xfrm>
                  <a:off x="7270864" y="4673799"/>
                  <a:ext cx="1817639" cy="333301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BE" dirty="0"/>
                    <a:t>TaskCompleted</a:t>
                  </a:r>
                </a:p>
              </p:txBody>
            </p:sp>
            <p:sp>
              <p:nvSpPr>
                <p:cNvPr id="1035" name="Rectangle 1034">
                  <a:extLst>
                    <a:ext uri="{FF2B5EF4-FFF2-40B4-BE49-F238E27FC236}">
                      <a16:creationId xmlns:a16="http://schemas.microsoft.com/office/drawing/2014/main" id="{C9949875-79BD-E3D9-B03B-1B31B257A359}"/>
                    </a:ext>
                  </a:extLst>
                </p:cNvPr>
                <p:cNvSpPr/>
                <p:nvPr/>
              </p:nvSpPr>
              <p:spPr>
                <a:xfrm>
                  <a:off x="7270864" y="5058105"/>
                  <a:ext cx="1817638" cy="335526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BE" dirty="0"/>
                    <a:t>TaskCreated</a:t>
                  </a:r>
                </a:p>
              </p:txBody>
            </p:sp>
            <p:sp>
              <p:nvSpPr>
                <p:cNvPr id="1037" name="Rectangle 1036">
                  <a:extLst>
                    <a:ext uri="{FF2B5EF4-FFF2-40B4-BE49-F238E27FC236}">
                      <a16:creationId xmlns:a16="http://schemas.microsoft.com/office/drawing/2014/main" id="{D4B72FF3-5D09-3278-2B85-576E4C6EA480}"/>
                    </a:ext>
                  </a:extLst>
                </p:cNvPr>
                <p:cNvSpPr/>
                <p:nvPr/>
              </p:nvSpPr>
              <p:spPr>
                <a:xfrm>
                  <a:off x="7270864" y="5437253"/>
                  <a:ext cx="1817638" cy="335526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BE" dirty="0"/>
                    <a:t>TaskCancelled</a:t>
                  </a:r>
                </a:p>
              </p:txBody>
            </p:sp>
          </p:grpSp>
          <p:sp>
            <p:nvSpPr>
              <p:cNvPr id="1045" name="Rectangle 1044">
                <a:extLst>
                  <a:ext uri="{FF2B5EF4-FFF2-40B4-BE49-F238E27FC236}">
                    <a16:creationId xmlns:a16="http://schemas.microsoft.com/office/drawing/2014/main" id="{A427E246-05AE-8F7F-B5D8-FCD6D9A7F728}"/>
                  </a:ext>
                </a:extLst>
              </p:cNvPr>
              <p:cNvSpPr/>
              <p:nvPr/>
            </p:nvSpPr>
            <p:spPr>
              <a:xfrm>
                <a:off x="8234475" y="4235224"/>
                <a:ext cx="1817639" cy="333301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fr-BE" dirty="0"/>
                  <a:t>Enums</a:t>
                </a:r>
              </a:p>
            </p:txBody>
          </p:sp>
          <p:sp>
            <p:nvSpPr>
              <p:cNvPr id="1046" name="Rectangle 1045">
                <a:extLst>
                  <a:ext uri="{FF2B5EF4-FFF2-40B4-BE49-F238E27FC236}">
                    <a16:creationId xmlns:a16="http://schemas.microsoft.com/office/drawing/2014/main" id="{BD665563-3DF0-0DCA-7E13-4CBB9968AF3B}"/>
                  </a:ext>
                </a:extLst>
              </p:cNvPr>
              <p:cNvSpPr/>
              <p:nvPr/>
            </p:nvSpPr>
            <p:spPr>
              <a:xfrm>
                <a:off x="8228414" y="4673799"/>
                <a:ext cx="1817639" cy="333301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fr-BE" dirty="0"/>
                  <a:t>Values Objects</a:t>
                </a:r>
              </a:p>
            </p:txBody>
          </p:sp>
          <p:sp>
            <p:nvSpPr>
              <p:cNvPr id="1047" name="Rectangle 1046">
                <a:extLst>
                  <a:ext uri="{FF2B5EF4-FFF2-40B4-BE49-F238E27FC236}">
                    <a16:creationId xmlns:a16="http://schemas.microsoft.com/office/drawing/2014/main" id="{364F70DE-CCCB-F5CA-459C-E511A5BC2AFA}"/>
                  </a:ext>
                </a:extLst>
              </p:cNvPr>
              <p:cNvSpPr/>
              <p:nvPr/>
            </p:nvSpPr>
            <p:spPr>
              <a:xfrm>
                <a:off x="8237444" y="5085149"/>
                <a:ext cx="1817639" cy="333301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fr-BE" dirty="0"/>
                  <a:t>Exceptions</a:t>
                </a:r>
              </a:p>
            </p:txBody>
          </p:sp>
        </p:grpSp>
        <p:sp>
          <p:nvSpPr>
            <p:cNvPr id="1061" name="Rectangle 1060">
              <a:extLst>
                <a:ext uri="{FF2B5EF4-FFF2-40B4-BE49-F238E27FC236}">
                  <a16:creationId xmlns:a16="http://schemas.microsoft.com/office/drawing/2014/main" id="{F0AE8ED2-4964-245A-DA82-7CCC1C225AE6}"/>
                </a:ext>
              </a:extLst>
            </p:cNvPr>
            <p:cNvSpPr/>
            <p:nvPr/>
          </p:nvSpPr>
          <p:spPr>
            <a:xfrm>
              <a:off x="274687" y="5351056"/>
              <a:ext cx="2778557" cy="26559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BE" dirty="0"/>
                <a:t>FlexiTaskDbContext</a:t>
              </a:r>
            </a:p>
          </p:txBody>
        </p:sp>
        <p:sp>
          <p:nvSpPr>
            <p:cNvPr id="1063" name="Rectangle 1062">
              <a:extLst>
                <a:ext uri="{FF2B5EF4-FFF2-40B4-BE49-F238E27FC236}">
                  <a16:creationId xmlns:a16="http://schemas.microsoft.com/office/drawing/2014/main" id="{86D8BEEC-C831-8260-34A2-36014D94A3C4}"/>
                </a:ext>
              </a:extLst>
            </p:cNvPr>
            <p:cNvSpPr/>
            <p:nvPr/>
          </p:nvSpPr>
          <p:spPr>
            <a:xfrm>
              <a:off x="274688" y="5680202"/>
              <a:ext cx="2761186" cy="850212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BE" dirty="0"/>
                <a:t>Data.Configurations</a:t>
              </a:r>
            </a:p>
            <a:p>
              <a:pPr algn="ctr"/>
              <a:endParaRPr lang="fr-BE" dirty="0"/>
            </a:p>
            <a:p>
              <a:pPr algn="ctr"/>
              <a:endParaRPr lang="fr-BE" dirty="0"/>
            </a:p>
          </p:txBody>
        </p:sp>
        <p:sp>
          <p:nvSpPr>
            <p:cNvPr id="1064" name="Rectangle 1063">
              <a:extLst>
                <a:ext uri="{FF2B5EF4-FFF2-40B4-BE49-F238E27FC236}">
                  <a16:creationId xmlns:a16="http://schemas.microsoft.com/office/drawing/2014/main" id="{20DAEF9E-C265-8501-6134-E0A631AA641F}"/>
                </a:ext>
              </a:extLst>
            </p:cNvPr>
            <p:cNvSpPr/>
            <p:nvPr/>
          </p:nvSpPr>
          <p:spPr>
            <a:xfrm>
              <a:off x="313477" y="5946393"/>
              <a:ext cx="2521227" cy="26559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BE" dirty="0"/>
                <a:t>PlantConfiguration</a:t>
              </a:r>
            </a:p>
          </p:txBody>
        </p:sp>
        <p:sp>
          <p:nvSpPr>
            <p:cNvPr id="1065" name="Rectangle 1064">
              <a:extLst>
                <a:ext uri="{FF2B5EF4-FFF2-40B4-BE49-F238E27FC236}">
                  <a16:creationId xmlns:a16="http://schemas.microsoft.com/office/drawing/2014/main" id="{4ECFF03B-D533-17BF-5551-5B9EC4A3A8F9}"/>
                </a:ext>
              </a:extLst>
            </p:cNvPr>
            <p:cNvSpPr/>
            <p:nvPr/>
          </p:nvSpPr>
          <p:spPr>
            <a:xfrm>
              <a:off x="313477" y="6230469"/>
              <a:ext cx="2521228" cy="26559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BE" dirty="0"/>
                <a:t>WorkAreaConfiguration</a:t>
              </a:r>
            </a:p>
          </p:txBody>
        </p:sp>
        <p:sp>
          <p:nvSpPr>
            <p:cNvPr id="1066" name="Rectangle 1065">
              <a:extLst>
                <a:ext uri="{FF2B5EF4-FFF2-40B4-BE49-F238E27FC236}">
                  <a16:creationId xmlns:a16="http://schemas.microsoft.com/office/drawing/2014/main" id="{47652E44-737D-E38A-C1DF-3D56344C5179}"/>
                </a:ext>
              </a:extLst>
            </p:cNvPr>
            <p:cNvSpPr/>
            <p:nvPr/>
          </p:nvSpPr>
          <p:spPr>
            <a:xfrm>
              <a:off x="3161886" y="5364326"/>
              <a:ext cx="3961460" cy="115896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BE" dirty="0"/>
                <a:t>Data.Interceptors</a:t>
              </a:r>
            </a:p>
            <a:p>
              <a:pPr algn="ctr"/>
              <a:endParaRPr lang="fr-BE" dirty="0"/>
            </a:p>
            <a:p>
              <a:pPr algn="ctr"/>
              <a:endParaRPr lang="fr-BE" dirty="0"/>
            </a:p>
            <a:p>
              <a:pPr algn="ctr"/>
              <a:endParaRPr lang="fr-BE" dirty="0"/>
            </a:p>
          </p:txBody>
        </p:sp>
        <p:sp>
          <p:nvSpPr>
            <p:cNvPr id="1067" name="Rectangle 1066">
              <a:extLst>
                <a:ext uri="{FF2B5EF4-FFF2-40B4-BE49-F238E27FC236}">
                  <a16:creationId xmlns:a16="http://schemas.microsoft.com/office/drawing/2014/main" id="{ACC2A3E6-A2D3-1267-8107-B71639C5260A}"/>
                </a:ext>
              </a:extLst>
            </p:cNvPr>
            <p:cNvSpPr/>
            <p:nvPr/>
          </p:nvSpPr>
          <p:spPr>
            <a:xfrm>
              <a:off x="3283528" y="5679323"/>
              <a:ext cx="3718176" cy="26559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BE" dirty="0"/>
                <a:t>AuditableEntityInterceptor</a:t>
              </a:r>
            </a:p>
          </p:txBody>
        </p:sp>
        <p:sp>
          <p:nvSpPr>
            <p:cNvPr id="1068" name="Rectangle 1067">
              <a:extLst>
                <a:ext uri="{FF2B5EF4-FFF2-40B4-BE49-F238E27FC236}">
                  <a16:creationId xmlns:a16="http://schemas.microsoft.com/office/drawing/2014/main" id="{E11720DE-FCAF-E45E-14A8-E9887A4F72D9}"/>
                </a:ext>
              </a:extLst>
            </p:cNvPr>
            <p:cNvSpPr/>
            <p:nvPr/>
          </p:nvSpPr>
          <p:spPr>
            <a:xfrm>
              <a:off x="3283527" y="6008612"/>
              <a:ext cx="3718177" cy="26559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BE" dirty="0"/>
                <a:t>DispatchDomainEventsInterceptor</a:t>
              </a:r>
            </a:p>
          </p:txBody>
        </p:sp>
        <p:sp>
          <p:nvSpPr>
            <p:cNvPr id="1069" name="Rectangle 1068">
              <a:extLst>
                <a:ext uri="{FF2B5EF4-FFF2-40B4-BE49-F238E27FC236}">
                  <a16:creationId xmlns:a16="http://schemas.microsoft.com/office/drawing/2014/main" id="{159DEBAA-7672-9074-B6ED-494583E00B7B}"/>
                </a:ext>
              </a:extLst>
            </p:cNvPr>
            <p:cNvSpPr/>
            <p:nvPr/>
          </p:nvSpPr>
          <p:spPr>
            <a:xfrm>
              <a:off x="7527225" y="5166353"/>
              <a:ext cx="1981241" cy="1520198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BE" sz="1400" dirty="0"/>
                <a:t>Infrastructure.Identity</a:t>
              </a:r>
              <a:endParaRPr lang="fr-BE" dirty="0"/>
            </a:p>
            <a:p>
              <a:pPr algn="ctr"/>
              <a:endParaRPr lang="fr-BE" dirty="0"/>
            </a:p>
            <a:p>
              <a:pPr algn="ctr"/>
              <a:endParaRPr lang="fr-BE" dirty="0"/>
            </a:p>
            <a:p>
              <a:pPr algn="ctr"/>
              <a:endParaRPr lang="fr-BE" dirty="0"/>
            </a:p>
            <a:p>
              <a:pPr algn="ctr"/>
              <a:endParaRPr lang="fr-BE" dirty="0"/>
            </a:p>
            <a:p>
              <a:pPr algn="ctr"/>
              <a:endParaRPr lang="fr-BE" dirty="0"/>
            </a:p>
          </p:txBody>
        </p:sp>
        <p:sp>
          <p:nvSpPr>
            <p:cNvPr id="1070" name="Rectangle 1069">
              <a:extLst>
                <a:ext uri="{FF2B5EF4-FFF2-40B4-BE49-F238E27FC236}">
                  <a16:creationId xmlns:a16="http://schemas.microsoft.com/office/drawing/2014/main" id="{9ED604B7-6CA0-D503-D533-9D758D098F6B}"/>
                </a:ext>
              </a:extLst>
            </p:cNvPr>
            <p:cNvSpPr/>
            <p:nvPr/>
          </p:nvSpPr>
          <p:spPr>
            <a:xfrm>
              <a:off x="7568145" y="5394296"/>
              <a:ext cx="1845830" cy="26559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BE" dirty="0"/>
                <a:t>ApplicationUser</a:t>
              </a:r>
            </a:p>
          </p:txBody>
        </p:sp>
        <p:sp>
          <p:nvSpPr>
            <p:cNvPr id="1071" name="Rectangle 1070">
              <a:extLst>
                <a:ext uri="{FF2B5EF4-FFF2-40B4-BE49-F238E27FC236}">
                  <a16:creationId xmlns:a16="http://schemas.microsoft.com/office/drawing/2014/main" id="{12AD0683-32FD-9FA8-B864-FE202AEDEFB6}"/>
                </a:ext>
              </a:extLst>
            </p:cNvPr>
            <p:cNvSpPr/>
            <p:nvPr/>
          </p:nvSpPr>
          <p:spPr>
            <a:xfrm>
              <a:off x="7581145" y="5734126"/>
              <a:ext cx="1845830" cy="26559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BE" dirty="0"/>
                <a:t>IdentityServices</a:t>
              </a:r>
            </a:p>
          </p:txBody>
        </p:sp>
        <p:sp>
          <p:nvSpPr>
            <p:cNvPr id="1072" name="Rectangle 1071">
              <a:extLst>
                <a:ext uri="{FF2B5EF4-FFF2-40B4-BE49-F238E27FC236}">
                  <a16:creationId xmlns:a16="http://schemas.microsoft.com/office/drawing/2014/main" id="{2D695B24-7882-F75E-28D4-28C4C11D6D42}"/>
                </a:ext>
              </a:extLst>
            </p:cNvPr>
            <p:cNvSpPr/>
            <p:nvPr/>
          </p:nvSpPr>
          <p:spPr>
            <a:xfrm>
              <a:off x="9635536" y="5152263"/>
              <a:ext cx="2242987" cy="1520198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BE" sz="1200" dirty="0"/>
                <a:t>Infrastructure.ExternalData</a:t>
              </a:r>
              <a:endParaRPr lang="fr-BE" dirty="0"/>
            </a:p>
            <a:p>
              <a:pPr algn="ctr"/>
              <a:endParaRPr lang="fr-BE" dirty="0"/>
            </a:p>
            <a:p>
              <a:pPr algn="ctr"/>
              <a:endParaRPr lang="fr-BE" dirty="0"/>
            </a:p>
            <a:p>
              <a:pPr algn="ctr"/>
              <a:endParaRPr lang="fr-BE" dirty="0"/>
            </a:p>
            <a:p>
              <a:pPr algn="ctr"/>
              <a:endParaRPr lang="fr-BE" dirty="0"/>
            </a:p>
            <a:p>
              <a:pPr algn="ctr"/>
              <a:endParaRPr lang="fr-BE" dirty="0"/>
            </a:p>
          </p:txBody>
        </p:sp>
        <p:sp>
          <p:nvSpPr>
            <p:cNvPr id="1075" name="Rectangle 1074">
              <a:extLst>
                <a:ext uri="{FF2B5EF4-FFF2-40B4-BE49-F238E27FC236}">
                  <a16:creationId xmlns:a16="http://schemas.microsoft.com/office/drawing/2014/main" id="{DA2B2184-21ED-BD40-1249-8EA1422B3410}"/>
                </a:ext>
              </a:extLst>
            </p:cNvPr>
            <p:cNvSpPr/>
            <p:nvPr/>
          </p:nvSpPr>
          <p:spPr>
            <a:xfrm>
              <a:off x="9703242" y="5383297"/>
              <a:ext cx="1845830" cy="26559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BE" dirty="0"/>
                <a:t>SapServices</a:t>
              </a:r>
            </a:p>
          </p:txBody>
        </p:sp>
        <p:sp>
          <p:nvSpPr>
            <p:cNvPr id="1076" name="Rectangle 1075">
              <a:extLst>
                <a:ext uri="{FF2B5EF4-FFF2-40B4-BE49-F238E27FC236}">
                  <a16:creationId xmlns:a16="http://schemas.microsoft.com/office/drawing/2014/main" id="{47908F01-A692-6ECD-9E2A-844665DABFAD}"/>
                </a:ext>
              </a:extLst>
            </p:cNvPr>
            <p:cNvSpPr/>
            <p:nvPr/>
          </p:nvSpPr>
          <p:spPr>
            <a:xfrm>
              <a:off x="9616981" y="4481040"/>
              <a:ext cx="2139422" cy="26559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BE" dirty="0"/>
                <a:t>ServiceResult</a:t>
              </a:r>
            </a:p>
          </p:txBody>
        </p:sp>
        <p:pic>
          <p:nvPicPr>
            <p:cNvPr id="1077" name="Picture 14" descr="Sap Bapi Rfc Command Reference - Vertical Png,Sap Logo Png - free  transparent png images - pngaaa.com">
              <a:extLst>
                <a:ext uri="{FF2B5EF4-FFF2-40B4-BE49-F238E27FC236}">
                  <a16:creationId xmlns:a16="http://schemas.microsoft.com/office/drawing/2014/main" id="{03066CDA-613E-CE8C-6417-CF869967F0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02324" y="5866921"/>
              <a:ext cx="1368735" cy="5255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A671467-5B15-E40F-CABC-2729C552C974}"/>
                </a:ext>
              </a:extLst>
            </p:cNvPr>
            <p:cNvSpPr/>
            <p:nvPr/>
          </p:nvSpPr>
          <p:spPr>
            <a:xfrm>
              <a:off x="2239616" y="2706318"/>
              <a:ext cx="1923999" cy="296725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BE" dirty="0"/>
                <a:t>Security</a:t>
              </a:r>
            </a:p>
          </p:txBody>
        </p:sp>
      </p:grpSp>
      <p:sp>
        <p:nvSpPr>
          <p:cNvPr id="1079" name="Rectangle 1078">
            <a:extLst>
              <a:ext uri="{FF2B5EF4-FFF2-40B4-BE49-F238E27FC236}">
                <a16:creationId xmlns:a16="http://schemas.microsoft.com/office/drawing/2014/main" id="{5C3AE0FA-4AB8-8C79-0603-BD5E590E5DE4}"/>
              </a:ext>
            </a:extLst>
          </p:cNvPr>
          <p:cNvSpPr/>
          <p:nvPr/>
        </p:nvSpPr>
        <p:spPr>
          <a:xfrm>
            <a:off x="9125851" y="2507335"/>
            <a:ext cx="2122739" cy="19105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BE" dirty="0"/>
          </a:p>
          <a:p>
            <a:pPr algn="ctr"/>
            <a:r>
              <a:rPr lang="fr-BE" dirty="0"/>
              <a:t>GetTask</a:t>
            </a:r>
          </a:p>
          <a:p>
            <a:pPr algn="ctr"/>
            <a:endParaRPr lang="fr-BE" dirty="0"/>
          </a:p>
        </p:txBody>
      </p:sp>
      <p:sp>
        <p:nvSpPr>
          <p:cNvPr id="1080" name="Rectangle 1079">
            <a:extLst>
              <a:ext uri="{FF2B5EF4-FFF2-40B4-BE49-F238E27FC236}">
                <a16:creationId xmlns:a16="http://schemas.microsoft.com/office/drawing/2014/main" id="{1EEE0A41-0139-3BE3-2B73-95CD7DFC52A6}"/>
              </a:ext>
            </a:extLst>
          </p:cNvPr>
          <p:cNvSpPr/>
          <p:nvPr/>
        </p:nvSpPr>
        <p:spPr>
          <a:xfrm>
            <a:off x="9125850" y="2739572"/>
            <a:ext cx="2122739" cy="19105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BE" dirty="0"/>
          </a:p>
          <a:p>
            <a:pPr algn="ctr"/>
            <a:r>
              <a:rPr lang="fr-BE" dirty="0"/>
              <a:t>TaskDto</a:t>
            </a:r>
          </a:p>
          <a:p>
            <a:pPr algn="ctr"/>
            <a:endParaRPr lang="fr-BE" dirty="0"/>
          </a:p>
        </p:txBody>
      </p:sp>
      <p:sp>
        <p:nvSpPr>
          <p:cNvPr id="1082" name="Rectangle 1081">
            <a:extLst>
              <a:ext uri="{FF2B5EF4-FFF2-40B4-BE49-F238E27FC236}">
                <a16:creationId xmlns:a16="http://schemas.microsoft.com/office/drawing/2014/main" id="{20699414-FBDB-4826-DD9E-063B42B206E0}"/>
              </a:ext>
            </a:extLst>
          </p:cNvPr>
          <p:cNvSpPr/>
          <p:nvPr/>
        </p:nvSpPr>
        <p:spPr>
          <a:xfrm>
            <a:off x="7074184" y="2491104"/>
            <a:ext cx="1893751" cy="189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BE" dirty="0"/>
          </a:p>
          <a:p>
            <a:pPr algn="ctr"/>
            <a:r>
              <a:rPr lang="fr-BE" sz="1050" dirty="0"/>
              <a:t>TaskCompletedEventHandler</a:t>
            </a:r>
            <a:endParaRPr lang="fr-BE" dirty="0"/>
          </a:p>
          <a:p>
            <a:pPr algn="ctr"/>
            <a:endParaRPr lang="fr-BE" dirty="0"/>
          </a:p>
        </p:txBody>
      </p:sp>
      <p:sp>
        <p:nvSpPr>
          <p:cNvPr id="1083" name="Rectangle 1082">
            <a:extLst>
              <a:ext uri="{FF2B5EF4-FFF2-40B4-BE49-F238E27FC236}">
                <a16:creationId xmlns:a16="http://schemas.microsoft.com/office/drawing/2014/main" id="{EF8DA682-0302-4A9B-A7EA-3D34A309E945}"/>
              </a:ext>
            </a:extLst>
          </p:cNvPr>
          <p:cNvSpPr/>
          <p:nvPr/>
        </p:nvSpPr>
        <p:spPr>
          <a:xfrm>
            <a:off x="4787429" y="2507335"/>
            <a:ext cx="1994372" cy="1841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sz="1200" dirty="0"/>
              <a:t>CreateTaskCommand</a:t>
            </a:r>
            <a:endParaRPr lang="fr-BE" dirty="0"/>
          </a:p>
        </p:txBody>
      </p:sp>
      <p:sp>
        <p:nvSpPr>
          <p:cNvPr id="1085" name="Rectangle 1084">
            <a:extLst>
              <a:ext uri="{FF2B5EF4-FFF2-40B4-BE49-F238E27FC236}">
                <a16:creationId xmlns:a16="http://schemas.microsoft.com/office/drawing/2014/main" id="{737D31FE-69F4-4615-5163-260C5940F354}"/>
              </a:ext>
            </a:extLst>
          </p:cNvPr>
          <p:cNvSpPr/>
          <p:nvPr/>
        </p:nvSpPr>
        <p:spPr>
          <a:xfrm>
            <a:off x="4787428" y="2776481"/>
            <a:ext cx="1994373" cy="1912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sz="1200" dirty="0"/>
              <a:t>CreateTaskValidator</a:t>
            </a:r>
            <a:endParaRPr lang="fr-BE" sz="1600" dirty="0"/>
          </a:p>
        </p:txBody>
      </p:sp>
      <p:sp>
        <p:nvSpPr>
          <p:cNvPr id="1086" name="Rectangle 1085">
            <a:extLst>
              <a:ext uri="{FF2B5EF4-FFF2-40B4-BE49-F238E27FC236}">
                <a16:creationId xmlns:a16="http://schemas.microsoft.com/office/drawing/2014/main" id="{F888E096-4907-8084-7700-4D5567C72065}"/>
              </a:ext>
            </a:extLst>
          </p:cNvPr>
          <p:cNvSpPr/>
          <p:nvPr/>
        </p:nvSpPr>
        <p:spPr>
          <a:xfrm>
            <a:off x="7074184" y="2717240"/>
            <a:ext cx="1893751" cy="12814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BE" dirty="0"/>
          </a:p>
          <a:p>
            <a:pPr algn="ctr"/>
            <a:r>
              <a:rPr lang="fr-BE" sz="1050" dirty="0"/>
              <a:t>TaskCreatedEventHandler</a:t>
            </a:r>
            <a:endParaRPr lang="fr-BE" dirty="0"/>
          </a:p>
          <a:p>
            <a:pPr algn="ctr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2846442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F9CFCE6-877F-4858-B8BD-2C52CA8AFB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E31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213F8A0-12AE-4514-8372-0DD766EC2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56866" y="480060"/>
            <a:ext cx="5458122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B44B58A-F477-BA0C-971C-5E852ACD8C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9039" y="643467"/>
            <a:ext cx="2353775" cy="5571066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9EFF17D4-9A8C-4CE5-B096-D8CCD4400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5458121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234E651-034E-3A8C-CEC4-C16FF0DBD6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4585" y="643467"/>
            <a:ext cx="4062974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37687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</TotalTime>
  <Words>118</Words>
  <Application>Microsoft Office PowerPoint</Application>
  <PresentationFormat>Grand écran</PresentationFormat>
  <Paragraphs>119</Paragraphs>
  <Slides>3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Nicolas Stoupy</dc:creator>
  <cp:lastModifiedBy>Nicolas Stoupy</cp:lastModifiedBy>
  <cp:revision>7</cp:revision>
  <dcterms:created xsi:type="dcterms:W3CDTF">2025-12-03T12:15:31Z</dcterms:created>
  <dcterms:modified xsi:type="dcterms:W3CDTF">2025-12-05T16:07:45Z</dcterms:modified>
</cp:coreProperties>
</file>